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Global Cumulative Confirmed Cases (millions)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cumulative cases (millions)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 '20</c:v>
                  </c:pt>
                  <c:pt idx="1">
                    <c:v>Jun '20</c:v>
                  </c:pt>
                  <c:pt idx="2">
                    <c:v>Aug '20</c:v>
                  </c:pt>
                  <c:pt idx="3">
                    <c:v>Jan '21</c:v>
                  </c:pt>
                  <c:pt idx="4">
                    <c:v>Aug '21</c:v>
                  </c:pt>
                  <c:pt idx="5">
                    <c:v>Apr '24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100</c:v>
                </c:pt>
                <c:pt idx="4">
                  <c:v>200</c:v>
                </c:pt>
                <c:pt idx="5">
                  <c:v>705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Millions of cases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Top 10 Countries by Total Confirmed Cases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cases (millions)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France</c:v>
                  </c:pt>
                  <c:pt idx="3">
                    <c:v>Germany</c:v>
                  </c:pt>
                  <c:pt idx="4">
                    <c:v>Brazil</c:v>
                  </c:pt>
                  <c:pt idx="5">
                    <c:v>South Korea</c:v>
                  </c:pt>
                  <c:pt idx="6">
                    <c:v>Japan</c:v>
                  </c:pt>
                  <c:pt idx="7">
                    <c:v>Italy</c:v>
                  </c:pt>
                  <c:pt idx="8">
                    <c:v>United Kingdom</c:v>
                  </c:pt>
                  <c:pt idx="9">
                    <c:v>Russia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111.82</c:v>
                </c:pt>
                <c:pt idx="1">
                  <c:v>45.04</c:v>
                </c:pt>
                <c:pt idx="2">
                  <c:v>40.14</c:v>
                </c:pt>
                <c:pt idx="3">
                  <c:v>38.83</c:v>
                </c:pt>
                <c:pt idx="4">
                  <c:v>38.74</c:v>
                </c:pt>
                <c:pt idx="5">
                  <c:v>34.57</c:v>
                </c:pt>
                <c:pt idx="6">
                  <c:v>33.8</c:v>
                </c:pt>
                <c:pt idx="7">
                  <c:v>26.72</c:v>
                </c:pt>
                <c:pt idx="8">
                  <c:v>24.91</c:v>
                </c:pt>
                <c:pt idx="9">
                  <c:v>24.12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Regional Share of Global Cases vs. Deaths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global cases (%)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Europe</c:v>
                  </c:pt>
                  <c:pt idx="1">
                    <c:v>Asia</c:v>
                  </c:pt>
                  <c:pt idx="2">
                    <c:v>N. America</c:v>
                  </c:pt>
                  <c:pt idx="3">
                    <c:v>S. America</c:v>
                  </c:pt>
                  <c:pt idx="4">
                    <c:v>Oceania</c:v>
                  </c:pt>
                  <c:pt idx="5">
                    <c:v>Africa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</c:v>
                </c:pt>
                <c:pt idx="1">
                  <c:v>31.4</c:v>
                </c:pt>
                <c:pt idx="2">
                  <c:v>18.7</c:v>
                </c:pt>
                <c:pt idx="3">
                  <c:v>10</c:v>
                </c:pt>
                <c:pt idx="4">
                  <c:v>2.1</c:v>
                </c:pt>
                <c:pt idx="5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global deaths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Europe</c:v>
                  </c:pt>
                  <c:pt idx="1">
                    <c:v>Asia</c:v>
                  </c:pt>
                  <c:pt idx="2">
                    <c:v>N. America</c:v>
                  </c:pt>
                  <c:pt idx="3">
                    <c:v>S. America</c:v>
                  </c:pt>
                  <c:pt idx="4">
                    <c:v>Oceania</c:v>
                  </c:pt>
                  <c:pt idx="5">
                    <c:v>Africa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22.2</c:v>
                </c:pt>
                <c:pt idx="2">
                  <c:v>24.2</c:v>
                </c:pt>
                <c:pt idx="3">
                  <c:v>19.5</c:v>
                </c:pt>
                <c:pt idx="4">
                  <c:v>0.5</c:v>
                </c:pt>
                <c:pt idx="5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Case Fatality Rate by Region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fatality rate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Oceania</c:v>
                  </c:pt>
                  <c:pt idx="1">
                    <c:v>Asia</c:v>
                  </c:pt>
                  <c:pt idx="2">
                    <c:v>Europe</c:v>
                  </c:pt>
                  <c:pt idx="3">
                    <c:v>North America</c:v>
                  </c:pt>
                  <c:pt idx="4">
                    <c:v>South America</c:v>
                  </c:pt>
                  <c:pt idx="5">
                    <c:v>Africa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</c:v>
                </c:pt>
                <c:pt idx="1">
                  <c:v>0.7</c:v>
                </c:pt>
                <c:pt idx="2">
                  <c:v>0.83</c:v>
                </c:pt>
                <c:pt idx="3">
                  <c:v>1.29</c:v>
                </c:pt>
                <c:pt idx="4">
                  <c:v>1.95</c:v>
                </c:pt>
                <c:pt idx="5">
                  <c:v>2.01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STORYTELLING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COVID-19: A Global Data Story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carried the heaviest burden of the pandemic — and what should that teach us about the next one?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countries &amp; territories  •  704.75M cases  •  7.01M deaths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Task 4 · Data Analytics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Fast-Moving Global Crisis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COVID-19 cases climbed from 1 million to over 700 million worldwide before global tracking ended in April 2024.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9167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42432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was explosive and uneven — waves of new variants (Delta, Omicron) repeatedly reignited case surges after periods of decline.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dates approximate, based on WHO / JHU / Worldometer situation reports.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1112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Worldometer COVID-19 Coronavirus Tracker (data through Apr 13, 2024)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Burden Concentrated in a Handful of Countries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10 of 229 reporting countries and territories account for 59% of all confirmed global cases.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9167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42432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alone reported more cases than the next two countries combined — but high case counts don't always mean high death tolls, as the next slide shows.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totals cumulative through Apr 13, 2024.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1112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Worldometer COVID-19 Coronavirus Tracker (data through Apr 13, 2024)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Deaths Didn't Track Cases Evenly Across Regions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each region's share of global cases to its share of global deaths exposes where the toll was disproportionate.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9167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42432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and Africa each had a death share far above their case share — a sign that outcomes, not just exposure, were shaped by local healthcare capacity.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totals aggregated from 229 reporting countries/territories.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1112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Worldometer COVID-19 Coronavirus Tracker (data through Apr 13, 2024)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Fatality Rates Reveal Healthcare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rate (deaths per confirmed case) by region ranged nearly 10x from lowest to highest.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9167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42432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fatality rate (2.0%) was roughly 9x Oceania's (0.2%) — pointing to real gaps in testing access, hospital capacity, and reporting infrastructure.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 = cumulative deaths ÷ cumulative confirmed cases per region.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1112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Worldometer COVID-19 Coronavirus Tracker (data through Apr 13, 2024)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Preparedness Spending Should Follow Fatality Risk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counts show where COVID-19 spread. Fatality rates show where the response fell short. Future investment should be guided by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27307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06040"/>
            <a:ext cx="621792" cy="621792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060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45920" y="24597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high-CFR regions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pandemic-readiness funding toward Africa and South America, where fatality rates were 2-9x higher than in Oceania and Asia.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273071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977640"/>
            <a:ext cx="621792" cy="621792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9776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5920" y="38313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low-CFR playbook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42062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(0.10%) and Japan (0.22%) show that fast testing and contact tracing measurably reduced deaths — codify these models for reuse.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273071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5349240"/>
            <a:ext cx="621792" cy="621792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3492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45920" y="5202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plan on case counts alone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55778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and India led in raw cases, but that alone doesn't predict where deaths concentrate — pair volume data with outcome data in risk models.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Worldometer COVID-19 Coronavirus Tracker (data through Apr 13, 2024)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2026-09-11T03:57:05Z</dcterms:created>
  <dcterms:modified xsi:type="dcterms:W3CDTF">2026-09-11T03:57:05Z</dcterms:modified>
</cp:coreProperties>
</file>